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c7216a3d84278" /><Relationship Type="http://schemas.openxmlformats.org/officeDocument/2006/relationships/extended-properties" Target="/docProps/app.xml" Id="Rce3608b4babd46fc" /><Relationship Type="http://schemas.openxmlformats.org/officeDocument/2006/relationships/officeDocument" Target="/ppt/presentation.xml" Id="R6a5436e24eb448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cf98b5f5a460a"/>
  </p:sldMasterIdLst>
  <p:notesMasterIdLst>
    <p:notesMasterId xmlns:r="http://schemas.openxmlformats.org/officeDocument/2006/relationships" r:id="Rf5e960c7584d40e1"/>
  </p:notesMasterIdLst>
  <p:sldIdLst>
    <p:sldId xmlns:r="http://schemas.openxmlformats.org/officeDocument/2006/relationships" id="256" r:id="R7bf944f3204f465f"/>
    <p:sldId xmlns:r="http://schemas.openxmlformats.org/officeDocument/2006/relationships" id="257" r:id="Ra887d81555f04b76"/>
    <p:sldId xmlns:r="http://schemas.openxmlformats.org/officeDocument/2006/relationships" id="258" r:id="R0e4d49437e9b4482"/>
    <p:sldId xmlns:r="http://schemas.openxmlformats.org/officeDocument/2006/relationships" id="259" r:id="R8a418691c3294cd7"/>
    <p:sldId xmlns:r="http://schemas.openxmlformats.org/officeDocument/2006/relationships" id="260" r:id="Rc0e9850ea1334b45"/>
    <p:sldId xmlns:r="http://schemas.openxmlformats.org/officeDocument/2006/relationships" id="261" r:id="Reaab8cfbf3794137"/>
    <p:sldId xmlns:r="http://schemas.openxmlformats.org/officeDocument/2006/relationships" id="262" r:id="Rd297ee04f3ee4c8d"/>
    <p:sldId xmlns:r="http://schemas.openxmlformats.org/officeDocument/2006/relationships" id="263" r:id="Rd1e5894763b54239"/>
    <p:sldId xmlns:r="http://schemas.openxmlformats.org/officeDocument/2006/relationships" id="264" r:id="Rbb8c3aa93de84a85"/>
    <p:sldId xmlns:r="http://schemas.openxmlformats.org/officeDocument/2006/relationships" id="265" r:id="R5a2b3f78712349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bf219e73a41a5" /><Relationship Type="http://schemas.openxmlformats.org/officeDocument/2006/relationships/slideMaster" Target="/ppt/slideMasters/slideMaster1.xml" Id="R76ccf98b5f5a460a" /><Relationship Type="http://schemas.openxmlformats.org/officeDocument/2006/relationships/notesMaster" Target="/ppt/notesMasters/notesMaster1.xml" Id="Rf5e960c7584d40e1" /><Relationship Type="http://schemas.openxmlformats.org/officeDocument/2006/relationships/presProps" Target="/ppt/presProps.xml" Id="Rcf1e05ce3da741cd" /><Relationship Type="http://schemas.openxmlformats.org/officeDocument/2006/relationships/tableStyles" Target="/ppt/tableStyles.xml" Id="Ra9876b960b9b4070" /><Relationship Type="http://schemas.openxmlformats.org/officeDocument/2006/relationships/slide" Target="/ppt/slides/slide1.xml" Id="R7bf944f3204f465f" /><Relationship Type="http://schemas.openxmlformats.org/officeDocument/2006/relationships/slide" Target="/ppt/slides/slide2.xml" Id="Ra887d81555f04b76" /><Relationship Type="http://schemas.openxmlformats.org/officeDocument/2006/relationships/slide" Target="/ppt/slides/slide3.xml" Id="R0e4d49437e9b4482" /><Relationship Type="http://schemas.openxmlformats.org/officeDocument/2006/relationships/slide" Target="/ppt/slides/slide4.xml" Id="R8a418691c3294cd7" /><Relationship Type="http://schemas.openxmlformats.org/officeDocument/2006/relationships/slide" Target="/ppt/slides/slide5.xml" Id="Rc0e9850ea1334b45" /><Relationship Type="http://schemas.openxmlformats.org/officeDocument/2006/relationships/slide" Target="/ppt/slides/slide6.xml" Id="Reaab8cfbf3794137" /><Relationship Type="http://schemas.openxmlformats.org/officeDocument/2006/relationships/slide" Target="/ppt/slides/slide7.xml" Id="Rd297ee04f3ee4c8d" /><Relationship Type="http://schemas.openxmlformats.org/officeDocument/2006/relationships/slide" Target="/ppt/slides/slide8.xml" Id="Rd1e5894763b54239" /><Relationship Type="http://schemas.openxmlformats.org/officeDocument/2006/relationships/slide" Target="/ppt/slides/slide9.xml" Id="Rbb8c3aa93de84a85" /><Relationship Type="http://schemas.openxmlformats.org/officeDocument/2006/relationships/slide" Target="/ppt/slides/slide10.xml" Id="R5a2b3f78712349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ad851bed1144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8a50c41fe45b5" /><Relationship Type="http://schemas.openxmlformats.org/officeDocument/2006/relationships/notesMaster" Target="/ppt/notesMasters/notesMaster1.xml" Id="Rb680825d05c8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f887b763144fa" /><Relationship Type="http://schemas.openxmlformats.org/officeDocument/2006/relationships/notesMaster" Target="/ppt/notesMasters/notesMaster1.xml" Id="Rc1ed1e550862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b76f0398a24b78" /><Relationship Type="http://schemas.openxmlformats.org/officeDocument/2006/relationships/notesMaster" Target="/ppt/notesMasters/notesMaster1.xml" Id="R20c6ac2c1c5645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2b33cd5014842" /><Relationship Type="http://schemas.openxmlformats.org/officeDocument/2006/relationships/notesMaster" Target="/ppt/notesMasters/notesMaster1.xml" Id="Ra8f5ca2036f842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cde390973a466d" /><Relationship Type="http://schemas.openxmlformats.org/officeDocument/2006/relationships/notesMaster" Target="/ppt/notesMasters/notesMaster1.xml" Id="Rc22128019fbe41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61ce757bd4e18" /><Relationship Type="http://schemas.openxmlformats.org/officeDocument/2006/relationships/notesMaster" Target="/ppt/notesMasters/notesMaster1.xml" Id="R3881658c5f90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19752fd63f4311" /><Relationship Type="http://schemas.openxmlformats.org/officeDocument/2006/relationships/notesMaster" Target="/ppt/notesMasters/notesMaster1.xml" Id="Ra1158ded31df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6edf6d1b7244a3" /><Relationship Type="http://schemas.openxmlformats.org/officeDocument/2006/relationships/notesMaster" Target="/ppt/notesMasters/notesMaster1.xml" Id="R9a031819ed0e46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259be7aff34e1c" /><Relationship Type="http://schemas.openxmlformats.org/officeDocument/2006/relationships/notesMaster" Target="/ppt/notesMasters/notesMaster1.xml" Id="Rebc64898ccc048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c8e3128a6d4bcc" /><Relationship Type="http://schemas.openxmlformats.org/officeDocument/2006/relationships/notesMaster" Target="/ppt/notesMasters/notesMaster1.xml" Id="Ra5aad431eec345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identity and team members supplied by the team. Cover image is a project test photo (unannotated original); this visual is not a claim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architecture, run_pipeline.py, video_pipeline.py, grounding_dino_parts.py, yolo_damage.py, fuse.py, refine_parts.py, severity.py, plate_reader.py, api_server.py, pricing_rules.py, negotiation.py. DINO and YOLO propose evidence; measured-area severity rules are the default and Qwen visual confirmation is optional. Video samples up to 12 keyframes. Frontend is hosted separately; the FastAPI backend, vision models, state, evidence and audit log run on a separate host. The RTX 4060 8 GB laptop hardware detail was confirmed by the team. Audit hash chaining is tamper-evident but not tamper-proof.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api_server.py, negotiation.py, pricing_rules.py. Customer can enter via a synthetic policy+registration pair or Demo Mode. The server re-assesses proof photos; garage estimate OCR/transcription is followed by Python line checks. Chat cannot set an amount. Acceptance requires a separate confirmation. Partial estimates remain provisional in the normal flow; special scoped demo offers may be enabled in Demo Mode.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vehicles.py and pricing_rules.py. Supported classes are car, motorcycle and scooter; aliases map bike to motorcycle and scooty/moped to scooter. Motorcycle and scooter have distinct component vocabularies and a dedicated shared two-wheeler demo rate tier. The code comments that CarDD YOLO is trained on cars, so uncertain two-wheeler detections go for VLM checking; this does not establish two-wheeler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external_prices.csv (103 non-header records; five make/model pairs); price_scraper.py; seed_urls.csv; demo_credentials.txt; pricing_rules.py; frontend/src/components/Login.tsx. Dataset is a snapshot: WagonR entries are a secondary parts catalogue with official recheck pending. The scraper defaults to Swift, Baleno and Dzire and accepts seed URLs; that does not mean every model currently has a saved official price. The policy+registration pairs are synthetic demo records; Demo Mode may instead start without a policy and use a selected illustrative 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rebuilt from supplied React/CSS source, not a browser capture. The displayed screen is illustrative and its claim reference, finding counts and sample claim text are mock UI content, not a live or stored claim. Source components: frontend/src/components/Dashboard.tsx, ClaimView.tsx, Assessment.tsx, Settlement.tsx, Capture.tsx. Policy example is synthetic from demo_credentials.txt.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rebuilt from supplied React/CSS source, not a browser capture. No live counts are shown. AdminApp provides Overview, Claim queue and Audit log. Overview shows claim and service health; the claim workspace exposes evidence, pricing provenance and negotiation history; audit and red-team tests are also available. Audit hash chaining is tamper-evident, not tamper-proof.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Rules source: pricing_rules.py and negotiation.py. Method set: TOUCH_UP, REPAINT, DENT_REPAIR, PDR, PLASTIC_WELD, REPLACE. Line item repair is capped at replacement gross. Depreciation applies only to new-part cost: plastic 50%, glass 0%, metal by age bands; zero-dep cover waives part depreciation; labour is not depreciated. Payable = max(0, garage estimate − depreciation − deductible). Deductibles in code: cars &lt;=1500cc Rs 1,000 / &gt;1500cc Rs 2,000; 2W &lt;150cc Rs 100 / &gt;=150cc Rs 500 (the source notes the latter 2W large slab requires wording verification). Confidence floors: VLM-confirmed 0.60, detector-only 0.50, lamp/glass 0.40; API requires VLM confirmation when loaded. ALWAYS_INSPECT covers windshield, quarter panel, wheel, side window, trunk, handlebar, exhaust; estimate above Rs 20,000 routes to review. Negotiation has no offer ladder: OFFER_LADDER contains only OPEN_OFFER_RATIO (80%). MAX_OFFER_RATIO (95%) remains an upper validation ceiling, not a customer-facing step. After materially accepted photo or checked garage-estimate evidence, the API recalculates the quote and creates a fresh session; when still approved, the offer is recalculated at 80% of the new payable. Chat requests alone never change the amount; evidence with no material change leaves the offer unchanged. Garage estimate line cap defaults to 1.25x the project component rate; max 40 lines, matched only against photo-priced findings and same method; imported grand total is not used. Negotiation allows up to 3 evidence uploads; ACCEPT then CONFIRM; one chat session has a 40-turn cap. Eight reply checks: amount preservation, allowed numbers only, no promises, no internal limits, no accusations, only claim parts, no injection echo, &lt;=600 characters; failed LLM rephrasing falls back to deterministic template. Statuses: APPROVED, NO_PAYOUT, REVIEW_REQUIRED, ESCALATED. All pricing/deductible thresholds are configurable demo assumptions, not insurer-approved policy wording.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docs/NUMBERS.md, project tests, and the CarDD checkpoint model card. 214 automated tests passed; vision and language model calls are stubbed in tests while pricing, state, API and checks execute. Red-team 70/70 and seeded pricing fuzz 5,000 claims / 0 invariant breaks are project test records, not independent certification. YOLO checkpoint figures are published CarDD model-card metrics: 75.84% box mAP@0.5 and 75.90% mask mAP@0.5; the team did not remeasure these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features are described from README.md, vehicles.py, external_prices.csv, frontend components, pricing_rules.py and negotiation.py. Severity rules, plate OCR and garage-estimate line checking are in the current system; the roadmap calls for broader independent evaluation of these capabilities on held-out examples. Other next-horizon items are human-reviewed multi-class data, two-wheeler-specific model training/evaluation, insurer calibration and production privacy/integration work. Price rows are a snapshot with mixed provenance; applicable demonstration rates remain configurable.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58f2968264f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4bb0d224846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9ef9005184d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5999456984a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728edd3a04b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74e384df142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E99197-F705-48EA-9EE6-28A2A7A641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440AFE-761D-4FB8-9DEC-3C01059431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14FCD7-7EC7-4A3C-98DA-A55F06551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169D12-915D-412B-A457-520E16BFA8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4313E4-9C99-43C8-9F22-23CE1F5840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94B497-8EEB-4092-94BD-985BC785F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E2839F-604A-4650-9064-7699B206BB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33F799-2A9D-43A5-90D5-0C5CB842F0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0183EC-476E-4284-945E-904F39F50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4B0409-A70E-4870-B07D-493205B508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2310a4e734e29" /><Relationship Type="http://schemas.openxmlformats.org/officeDocument/2006/relationships/slideLayout" Target="/ppt/slideLayouts/slideLayout1.xml" Id="Rbba980b1185c4c04" /><Relationship Type="http://schemas.openxmlformats.org/officeDocument/2006/relationships/slideLayout" Target="/ppt/slideLayouts/slideLayout2.xml" Id="R374cc882c11d4341" /><Relationship Type="http://schemas.openxmlformats.org/officeDocument/2006/relationships/slideLayout" Target="/ppt/slideLayouts/slideLayout3.xml" Id="Raf5993a89f374fbb" /><Relationship Type="http://schemas.openxmlformats.org/officeDocument/2006/relationships/slideLayout" Target="/ppt/slideLayouts/slideLayout4.xml" Id="Red65fb550d98432a" /><Relationship Type="http://schemas.openxmlformats.org/officeDocument/2006/relationships/slideLayout" Target="/ppt/slideLayouts/slideLayout5.xml" Id="R32fd810110464584" /><Relationship Type="http://schemas.openxmlformats.org/officeDocument/2006/relationships/slideLayout" Target="/ppt/slideLayouts/slideLayout6.xml" Id="R82c03692df724e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a980b1185c4c04"/>
    <p:sldLayoutId xmlns:r="http://schemas.openxmlformats.org/officeDocument/2006/relationships" id="2147483650" r:id="R374cc882c11d4341"/>
    <p:sldLayoutId xmlns:r="http://schemas.openxmlformats.org/officeDocument/2006/relationships" id="2147483651" r:id="Raf5993a89f374fbb"/>
    <p:sldLayoutId xmlns:r="http://schemas.openxmlformats.org/officeDocument/2006/relationships" id="2147483652" r:id="Red65fb550d98432a"/>
    <p:sldLayoutId xmlns:r="http://schemas.openxmlformats.org/officeDocument/2006/relationships" id="2147483653" r:id="R32fd810110464584"/>
    <p:sldLayoutId xmlns:r="http://schemas.openxmlformats.org/officeDocument/2006/relationships" id="2147483654" r:id="R82c03692df724e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1f539c728446b" /><Relationship Type="http://schemas.openxmlformats.org/officeDocument/2006/relationships/image" Target="/ppt/media/image.jpeg" Id="Rfa6b29b0df4b4178" /><Relationship Type="http://schemas.openxmlformats.org/officeDocument/2006/relationships/notesSlide" Target="/ppt/notesSlides/notesSlide1.xml" Id="R2d2d5a13d7fb46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b9a6ea7284061" /><Relationship Type="http://schemas.openxmlformats.org/officeDocument/2006/relationships/notesSlide" Target="/ppt/notesSlides/notesSlide2.xml" Id="Rce8838d9c33040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0852e8c3a46fe" /><Relationship Type="http://schemas.openxmlformats.org/officeDocument/2006/relationships/notesSlide" Target="/ppt/notesSlides/notesSlide3.xml" Id="R28fcb0c7e8d3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44018fe944f70" /><Relationship Type="http://schemas.openxmlformats.org/officeDocument/2006/relationships/notesSlide" Target="/ppt/notesSlides/notesSlide4.xml" Id="R5d9a7f1719994f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29e104c914668" /><Relationship Type="http://schemas.openxmlformats.org/officeDocument/2006/relationships/notesSlide" Target="/ppt/notesSlides/notesSlide5.xml" Id="R86741adac32e4d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b43721c8d475d" /><Relationship Type="http://schemas.openxmlformats.org/officeDocument/2006/relationships/notesSlide" Target="/ppt/notesSlides/notesSlide6.xml" Id="Rbc898179b354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328f8814b4450" /><Relationship Type="http://schemas.openxmlformats.org/officeDocument/2006/relationships/notesSlide" Target="/ppt/notesSlides/notesSlide7.xml" Id="R1a98f9447e134a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22d0e5df24ec4" /><Relationship Type="http://schemas.openxmlformats.org/officeDocument/2006/relationships/notesSlide" Target="/ppt/notesSlides/notesSlide8.xml" Id="R29c5fcf0428644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690b112f44b05" /><Relationship Type="http://schemas.openxmlformats.org/officeDocument/2006/relationships/notesSlide" Target="/ppt/notesSlides/notesSlide9.xml" Id="R3280c1aa9e184b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41947d5dd4091" /><Relationship Type="http://schemas.openxmlformats.org/officeDocument/2006/relationships/notesSlide" Target="/ppt/notesSlides/notesSlide10.xml" Id="R15b47d582f314b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19D06-19B9-4753-A32F-3F6D413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04F16-EBEE-42DC-A244-92EA06A4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OUTLIERS  /  CONFLUENTIA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CB3F7-019A-4D48-8D9D-F28FFEFB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810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91000"/>
              </a:lnSpc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Auto-Settle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56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149C4-CD58-455D-A379-CE7FE8C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8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31"/>
          </a:bodyPr>
          <a:lstStyle xmlns:a="http://schemas.openxmlformats.org/drawingml/2006/main">
            <a:defPPr algn="l"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Bring inspection, repair estimates and follow-up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into one reviewable claim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A439-3ACE-4F9A-AF91-1B9FD60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743450"/>
            <a:ext cx="5438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44FCC-C21C-4FD6-BD1C-A0917A4E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Utkarsh Gupta  ·  Prakhar Yadav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25F77-3113-44F4-AC6E-4DC5A47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Motor claims prototype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D8463-A508-41B1-8D06-CCA36B8D2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b29b0df4b4178"/>
          <a:srcRect xmlns:a="http://schemas.openxmlformats.org/drawingml/2006/main" l="5000" t="2000" r="5000" b="2000"/>
          <a:stretch xmlns:a="http://schemas.openxmlformats.org/drawingml/2006/main"/>
        </p:blipFill>
        <p:spPr>
          <a:xfrm xmlns:a="http://schemas.openxmlformats.org/drawingml/2006/main">
            <a:off x="6705600" y="657225"/>
            <a:ext cx="4857750" cy="4743450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678A-9091-4320-BB44-A767A51D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34025"/>
            <a:ext cx="485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4B12-F1AE-401F-93B3-FF9B4D64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7690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PHOTO  →  EVIDENCE  →  REASONED REVIEW</a:t>
            </a:r>
          </a:p>
        </p:txBody>
      </p:sp>
    </p:spTree>
    <p:extLst>
      <p:ext uri="{BB962C8B-B14F-4D97-AF65-F5344CB8AC3E}">
        <p14:creationId xmlns:p14="http://schemas.microsoft.com/office/powerpoint/2010/main" val="539857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F3A906-B37A-40C2-AA67-74D6BF2D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01  /  TECHNICAL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0B0C0-2714-4C8A-AAA7-77AE436D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Media pipeline and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7EB5C-C4AE-429D-8151-B4657A14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1DC8B-E622-402C-9DCE-5D644EF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090FA-D8D1-4764-A181-0DD5A802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A visible path from upload to a controlled claim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7F7AC-B275-4372-9515-B871BB8C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7526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5EEE9"/>
          </a:solidFill>
          <a:ln xmlns:a="http://schemas.openxmlformats.org/drawingml/2006/main" w="9525">
            <a:solidFill>
              <a:srgbClr val="C9D9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AA9B0-8663-4C41-BA36-63FC35B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AC6F8-5F4C-4E97-BC2F-A36A484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8EF16-D4DA-4FE7-8800-4CAF59C4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MEDIA 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104B7-35E3-4B53-8196-772A6256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Photos or video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up to 12 keyframes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00EDB-53D1-4971-8CDB-DC14042D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90775" y="27622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F83B9-B7B8-4E2D-9F8C-D3066102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2714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CDC98-5A10-4468-A2AB-0AACBBCA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47875"/>
            <a:ext cx="17526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5EEE9"/>
          </a:solidFill>
          <a:ln xmlns:a="http://schemas.openxmlformats.org/drawingml/2006/main" w="9525">
            <a:solidFill>
              <a:srgbClr val="C9D9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B814D-7631-43B6-B74B-87C56D5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F6780-2073-49E9-A852-5857D31E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76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3A34A-B267-450B-9024-341FF52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064F3-2FCF-4D4F-A655-243C69B4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97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DINO proposes parts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YOLO detects damage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E0814-82BD-4C1A-AA8E-CAD285C8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62475" y="27622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5FE0C-E07B-4BB4-BB66-3B6ACCF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19650" y="2714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A4114-C798-4048-B247-9148F343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17526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5EEE9"/>
          </a:solidFill>
          <a:ln xmlns:a="http://schemas.openxmlformats.org/drawingml/2006/main" w="9525">
            <a:solidFill>
              <a:srgbClr val="C9D9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C5E71-3820-4687-8BEE-4120B7C0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8C38C-C58A-4E03-B87A-9FEC0D04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76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4CAF4-9963-4F01-BFD2-F4B4A716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FUSE + ASSESS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416E4-BA88-4EFD-B095-2F0C7C18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691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Geometry + overlap checks;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rules / optional Qwen facts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A4B38-2692-4C46-91C1-4BAAE93A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34175" y="27622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34F4D-9B12-4B61-9F58-DFC28BE1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91350" y="2714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3AB92-314E-4149-8CB1-C4868EDA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47875"/>
            <a:ext cx="17526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4E6D7"/>
          </a:solidFill>
          <a:ln xmlns:a="http://schemas.openxmlformats.org/drawingml/2006/main" w="9525">
            <a:solidFill>
              <a:srgbClr val="E5C7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F1CDB-C88B-468D-986C-A17D40D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0C2A32-9A12-491A-9E48-36E14D8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76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4A5D7-5100-448A-BC21-17767EF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PRICE + ROUTE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FF58E-E90B-4267-83B9-23D2E17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337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41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Python rate + policy rules;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uncertainty to 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D0655-DF06-4D68-8750-43CD179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05875" y="27622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1B06C6-8A40-456D-91F3-490427F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63050" y="2714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7FF092-FE95-425D-8FAE-471D4CB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47875"/>
            <a:ext cx="17526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5EEE9"/>
          </a:solidFill>
          <a:ln xmlns:a="http://schemas.openxmlformats.org/drawingml/2006/main" w="9525">
            <a:solidFill>
              <a:srgbClr val="C9D9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E6B968-ED83-4EBB-ABF0-7ACF19A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714581-2E82-4159-9091-922EDB1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76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949F89-BFDE-483C-9635-F1BCCABB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CLAIM 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0BD683-4737-4166-B539-32690996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97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Estimate, explanation,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review or offer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F7F3D1-EAB0-43D3-9E7B-3D4F0E0B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SERVICE MAP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5997E-273F-48AA-A0D4-410E7480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2324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F22101-2A3B-4845-B02A-FC2BAC9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EXPERIENCE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B8B16C-DE57-4858-9E88-CC70251F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Customer + staff portals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A91212-54AD-4326-BF7E-89690209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React PWA · separately hosted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BA6C95-D664-40F5-9B76-E439976D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81325" y="4667250"/>
            <a:ext cx="123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BE8615-40B3-4E93-BFFE-DCF5E462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33725" y="4619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A5A8CA-0C41-4433-9EE0-5E533619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76725"/>
            <a:ext cx="2324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42F9CD-383F-4D5A-84DE-C66BF8F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API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F36870-290C-49EB-899B-6C5ABEC5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910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FastAPI backend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1327FC-CB3B-46E3-88A5-D20BE3B6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291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RTX 4060 · 8 GB laptop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BC0BE2-706F-4C4A-A5AF-4145994F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29275" y="4667250"/>
            <a:ext cx="123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3EE36E-E27E-4B79-B035-30DE38F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81675" y="4619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E773A3-05D4-4EE9-A61B-E6F2AA9D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76725"/>
            <a:ext cx="3086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2B9110-8EE5-4835-B839-E6C7A82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81500"/>
            <a:ext cx="2819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DECISION CORE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A4A933-D2DB-4DB7-8089-A0A77513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Vision + deterministic Python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8FC277-2E87-4105-830B-A7797C4F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291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DINO · YOLO · pricing · negotiation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1ACE9D-036D-40EB-9833-EF00B155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39225" y="4667250"/>
            <a:ext cx="123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B9B367-47EB-422E-8E30-232F42F6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91625" y="4619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92DF98-F63B-4930-8B4B-5C74E04D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6725"/>
            <a:ext cx="2266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CD64C4-115C-4FBF-B666-C4223357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815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RECORD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146FBC-5792-4E15-91B2-3733A61F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Local claim store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DB1217-FA4E-426A-A891-9199DBEE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291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Evidence · quotes · hash-chain audit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52F558-F4D9-4DF7-AC9C-62969608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8F1A2B-3C2D-476D-BBF0-DE1AD6D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Plate OCR + image-integrity checks add evidence. Python owns pricing, claim state and offer amounts.</a:t>
            </a:r>
          </a:p>
        </p:txBody>
      </p:sp>
    </p:spTree>
    <p:extLst>
      <p:ext uri="{BB962C8B-B14F-4D97-AF65-F5344CB8AC3E}">
        <p14:creationId xmlns:p14="http://schemas.microsoft.com/office/powerpoint/2010/main" val="1576688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6CAEAE-2A8E-4647-A15E-0B175EA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02  /  CUSTOMER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9830F-9039-4A60-B0C0-1EE7B37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Claim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B08DF-0698-48D6-BFD9-83015F47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53ABF-898A-492E-BEA1-E8A9593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69608-B279-4999-AD32-2B325C7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Evidence can change an assessment. Chat alone cannot change the amount.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33C6C-7938-4598-85B8-B645FE1C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4EDE8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1F06A-6465-4B51-8EE5-13DD7B07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86B28-8594-4D62-9913-3180E0B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832CA-7B70-4409-98E0-5738F97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SIGN 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83F0D-461A-49EA-9981-ABAD41C1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52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Synthetic policy + registration, or Demo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9E117-7BFC-4F8B-A493-C1DED4F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7925" y="32670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8574D-96B0-4D8F-85FF-E3202444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67000" y="3219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251F8-51D8-45FA-A55F-6AB4C271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4EDE8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3C21C-CD6F-417A-AD12-B4FC5763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D1E62-2D17-4E20-A685-02404DF8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287D2-EC64-4D60-AE24-3BAD413F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384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SUBMIT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01CAB-A1E9-4792-AE80-372E0431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52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8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Photo / video; proof photo or garage estimate 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E63F2-D490-449D-BFB5-4A0B440B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32670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8C14B-5164-4AA8-880C-83471F6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38700" y="3219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B42D2-B946-46FB-B27C-0D00826F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4EDE8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19161-C743-49BE-B406-AA028184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33ABB-B212-4A80-83BD-85B5F37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1A9AA-BAE7-4DAD-B48B-A2D7B986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384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ASSESS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8E906-26C9-49B0-97FD-E33EF70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52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Findings, estimate lines, provenance and blockers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E365F-32CC-45AF-8F14-B3874F6F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91325" y="32670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32417-E4B5-4457-88EF-87E6F2A1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10400" y="3219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52FE0-1B31-423C-80DE-7DE5A70A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1E9DA"/>
          </a:solidFill>
          <a:ln xmlns:a="http://schemas.openxmlformats.org/drawingml/2006/main" w="9525">
            <a:solidFill>
              <a:srgbClr val="D5BD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F2344-0454-402C-9457-01DFE052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3B714-09E5-45F5-9DD9-102AF65A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D615B-4E63-4B10-B21A-7B2B76AD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384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941EDF-56B5-4290-8F77-2D09F29E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52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Uncertain / unsupported items go to staff queue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48BF1-EC5B-4C05-96C9-E9A7B5E2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63025" y="32670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92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E7993-009A-4C7E-ACCD-3741B213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82100" y="3219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F0E848-1762-4A50-A326-C92B37B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4EDE8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C0F7C5-5D5C-41B1-AE66-900A35DD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38F893-7860-4CA9-B188-748EC8F9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9903B8-CABB-49E0-9F46-5592676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384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DECIDE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A1E41-D51B-4C38-A42D-13BC2FFE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52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Offer → ACCEPT → separate CONFIRM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1EF7B1-ADAD-46A5-8599-ABD330D6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67675" y="4305300"/>
            <a:ext cx="952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8B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2134D3-B88B-4A96-AD56-C83B94A7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76925" y="4810125"/>
            <a:ext cx="219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8B6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3026D9-1E0D-4C63-9943-75B8A7EC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76925" y="4238625"/>
            <a:ext cx="95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8B6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D8466-AF6A-4E39-8443-CA26943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76925" y="4314825"/>
            <a:ext cx="95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8B6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20AE29-AE87-499B-A2C9-0BA93180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4191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8392BA-6BBA-4F0F-8D08-D803856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C96552"/>
                </a:solidFill>
                <a:latin typeface="Bahnschrift"/>
                <a:ea typeface="Bahnschrift"/>
                <a:cs typeface="Bahnschrift"/>
              </a:rPr>
              <a:t>NEW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82573-AC8E-4E4F-A982-C2446D2E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425765"/>
                </a:solidFill>
                <a:latin typeface="Bahnschrift"/>
                <a:ea typeface="Bahnschrift"/>
                <a:cs typeface="Bahnschrift"/>
              </a:rPr>
              <a:t>Re-run the same checks; re-price from scratch.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8C7D16-E4B2-4F82-98B6-4DAA6D26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CE84A7-C89F-4373-87E9-CB0521B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If an item is provisional, the estimate stays provisional. A person can resolve it.</a:t>
            </a:r>
          </a:p>
        </p:txBody>
      </p:sp>
    </p:spTree>
    <p:extLst>
      <p:ext uri="{BB962C8B-B14F-4D97-AF65-F5344CB8AC3E}">
        <p14:creationId xmlns:p14="http://schemas.microsoft.com/office/powerpoint/2010/main" val="1598981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C8B08-B78D-4AF6-8E23-F7F54A76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03  /  VEHICLE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04DC2-0FC3-4FEC-8B0D-E4DDCEAF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Cars, motorcycles and scooters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C115-69E3-4473-B84D-53CFDA4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65D62-17B8-4D3C-8E97-96065EAF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7F4E1-78B2-45F4-A2BF-C70A1E9E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One assessment framework routes three vehicle classes into their own part list and price tier.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604CE-CEE6-404D-9584-DD53B4B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2333625"/>
            <a:ext cx="3152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2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02096-F5E3-4E22-851C-10A40A3E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2F31D-6F22-429F-A06F-05983FA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4 wheels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66B54-1CAB-4857-9DEF-B76240E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door · fender · bumper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headlight · hood · glass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E8D91-66C4-4BC9-AD3A-C195407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Car-oriented damage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AB46D-7C77-4A79-ACE5-ACB9861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2333625"/>
            <a:ext cx="3152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8B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9D04B-BB32-4C51-8F73-99DEC87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241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MOTORCYCLE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F3403-C05E-4193-A78B-65056FA5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670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bike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CB27A-2E51-4E79-A162-44256FE9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05175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fuel tank · mudguard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handlebar · exhaust · seat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3B8E5-0367-4019-8CEB-7988AABD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Dedicated two-wheeler rate 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71F48-0C13-4675-BAE7-3A8A3C3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15300" y="2333625"/>
            <a:ext cx="3152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81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E09C-0405-433B-93FD-A11D767C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SCOOTER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6976B-A950-4190-B286-BA1C7046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670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scooty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8E76D-B543-46EB-86DB-665F7BB8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front apron · floorboard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side body panel · mirror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68794-D8A1-4F9C-B91F-95571A6F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73"/>
          </a:bodyPr>
          <a:lstStyle xmlns:a="http://schemas.openxmlformats.org/drawingml/2006/main">
            <a:defPPr algn="l"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rPr>
              <a:t>Model aliases include Activa, Jupiter,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32F07-2816-446B-AB83-86BA0E90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31B7D-AC2A-43A4-BD5B-3CD4251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90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HOW IT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340F7-8FA8-494D-8E93-9F2F21F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633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Vehicle type → matching part prompts → type-specific pricing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2C11F-7B50-4F19-9A6D-1190919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9025" y="5191125"/>
            <a:ext cx="95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6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CA950-E8CA-41DE-A5AB-0471489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911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rPr>
              <a:t>Caveat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3071C-C583-41FA-AF9E-06BCC4E6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46735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72"/>
          </a:bodyPr>
          <a:lstStyle xmlns:a="http://schemas.openxmlformats.org/drawingml/2006/main">
            <a:defPPr algn="l"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YOLO’s CarDD checkpoint is car-trained; uncertain two-wheeler detections are sent for visual fact-checking.</a:t>
            </a:r>
          </a:p>
        </p:txBody>
      </p:sp>
    </p:spTree>
    <p:extLst>
      <p:ext uri="{BB962C8B-B14F-4D97-AF65-F5344CB8AC3E}">
        <p14:creationId xmlns:p14="http://schemas.microsoft.com/office/powerpoint/2010/main" val="1556860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FBDB0A-8DC5-4A58-9DDD-5209DD97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04  /  PRICES + DEMO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CEAA6-560A-4B8C-BE35-46BE21E3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Price evidence and synthetic policy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6FC8F-8EA8-44FC-A843-95B7C50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1D06D-0864-4A8E-93EF-9820BA96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92745-CFE4-46CD-BA81-67DC3E19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2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A bundled snapshot, not a live price guarantee.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5E622-17D7-4769-93B1-D4D0F71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103 part-price rows across five models. Use the exact model + part median; prefer official sources and flag stale rows.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2667F-6666-4675-B057-CEEF319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57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4C4EE-FA8C-4BBB-A7CB-41C06F5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WagonR rows · partsinfo.in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12B02-F305-4557-8112-C835369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3562350"/>
            <a:ext cx="4991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5B661-98C2-4B27-98E9-EBEF3C17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57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DDB3E-ADE0-417A-BD35-376BD8F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Swift rows · Maruti Suzuki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E5926-6ECF-4923-9899-3379301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4095750"/>
            <a:ext cx="4991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57C5D-C761-4AB9-9975-EBD927E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57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A2FBE-D95A-40DD-AEEF-F5C4825D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Creta / Splendor / Activa entries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C014E-15DB-42CB-A57F-29F2BC6D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4629150"/>
            <a:ext cx="4991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1074C-64D1-478D-B272-CAD86C6B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CSV SNAPSHOT  /  3 SOURCE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3A080-D680-42E8-BAFE-B1147B1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991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9A192-E1C3-48FC-8F83-D8AA132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make,model,part,price_inr,source_site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E9229-DC30-4508-A5AD-43FB2622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maruti,swift,front_bumper,2250,www.marutisuzuki.com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1D949-9A0E-4071-96AB-C57D4445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maruti,swift,grille,1150,www.marutisuzuki.com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8DBBB-9A99-4279-B2B2-218D489B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maruti,swift,rear_bumper,2700,www.marutisuzuki.com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8BFBA-D7B5-4050-B535-06A0AF8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OBSERVED  /  IMPUTED  / 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618C1-EA42-408F-BAF6-D3FAC87E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5019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Part prices carry source provenance; labour / paint use demo rates.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9FE4F-02DD-4C69-8EA4-41B611F3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9800" y="1695450"/>
            <a:ext cx="9525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A7A58-5A8B-4033-9A32-B420C512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85925"/>
            <a:ext cx="4800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Synthetic sign-in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407FF-885A-4162-84AB-E0D3FFB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62175"/>
            <a:ext cx="4905375" cy="3571875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2E745-8C9D-48B3-89AF-A850181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98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AUTO-SETTLE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24F68-8725-4919-81C9-8C5AD11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Sign 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3772C-E222-4EDE-B4D5-10EDF3A5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Your vehicle and cover come from the demo policy record.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FB855-BE92-436D-AAC4-A3DD967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352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2B3D"/>
          </a:solidFill>
          <a:ln xmlns:a="http://schemas.openxmlformats.org/drawingml/2006/main" w="9525">
            <a:solidFill>
              <a:srgbClr val="344A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0A83B-E00D-491A-914D-82E1A87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9525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rPr>
              <a:t>Policy number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B642B-7A27-4944-9445-A32D6454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4352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52B3D"/>
          </a:solidFill>
          <a:ln xmlns:a="http://schemas.openxmlformats.org/drawingml/2006/main" w="9525">
            <a:solidFill>
              <a:srgbClr val="344A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0C188-E023-4792-A785-84CBEDCB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81939E"/>
                </a:solidFill>
                <a:latin typeface="Bahnschrift"/>
                <a:ea typeface="Bahnschrift"/>
                <a:cs typeface="Bahnschrift"/>
              </a:rPr>
              <a:t>Registration number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64295C-C893-4D9F-B87D-D1FB90B5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29175"/>
            <a:ext cx="43529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D7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E5069E-20CD-4FD0-A78B-FB8A376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5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71421"/>
                </a:solidFill>
                <a:latin typeface="Bahnschrift"/>
                <a:ea typeface="Bahnschrift"/>
                <a:cs typeface="Bahnschrift"/>
              </a:rPr>
              <a:t>Sign 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C1CE0B-4B30-42A5-8947-4D8D4941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886450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Example pairs: DL3CAB1234 + AS-MTR-2026-000184  /  HR26BK9999 + AS-2W-2026-000129</a:t>
            </a:r>
          </a:p>
        </p:txBody>
      </p:sp>
    </p:spTree>
    <p:extLst>
      <p:ext uri="{BB962C8B-B14F-4D97-AF65-F5344CB8AC3E}">
        <p14:creationId xmlns:p14="http://schemas.microsoft.com/office/powerpoint/2010/main" val="1948121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5F6638-F4F7-4B4C-B69E-2BA358F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05  /  PRODUCT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F6C07-A314-4951-8B39-E45D753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Customer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16DA2-4787-473A-AFA4-264208FF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71282-5940-4C11-B857-1CA9158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C82CB-DEC4-47A5-9FFC-9C3E567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The customer sees policy context, evidence status and what the current decision means.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4C319-CD12-4371-9203-5293C007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1D2A"/>
          </a:solidFill>
          <a:ln xmlns:a="http://schemas.openxmlformats.org/drawingml/2006/main" w="9525">
            <a:solidFill>
              <a:srgbClr val="2941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B729D-24E5-46F4-B185-2AB6D77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A2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0E306-3FE7-481E-8008-1613C205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511AF-A350-4E1F-AE1A-74995728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8C28D-BA0C-46C4-ADBB-2DF354A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7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E0B7B-BA2B-4A02-B9CC-DD849DA9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38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A7B7C1"/>
                </a:solidFill>
                <a:latin typeface="Bahnschrift"/>
                <a:ea typeface="Bahnschrift"/>
                <a:cs typeface="Bahnschrift"/>
              </a:rPr>
              <a:t>autosettle.ai  /  customer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C5658-44DD-48FA-A5D4-D76016F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3295650" cy="2924175"/>
          </a:xfrm>
          <a:prstGeom xmlns:a="http://schemas.openxmlformats.org/drawingml/2006/main" prst="roundRect">
            <a:avLst>
              <a:gd name="adj" fmla="val 3909"/>
            </a:avLst>
          </a:prstGeom>
          <a:solidFill xmlns:a="http://schemas.openxmlformats.org/drawingml/2006/main">
            <a:srgbClr val="0C1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54F90-5EE1-4791-BB9A-C24A3788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YOUR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AA83E-D550-4FA8-BBAA-8E7EAE41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Maruti Swift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78501-165D-4E47-9A7A-63931AB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Policy AS-MTR-2026-000184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C39DF-B8F0-4933-9F4B-E001D3C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3924300"/>
            <a:ext cx="2809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C4DF3-51BC-415E-B898-6EB581F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Registration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22955-3F09-4A07-BA5F-0CA2755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57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DL3CAB1234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63A7F-1FD8-4083-9454-12B43733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Policy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6E452-BABF-4F79-A0A1-54C942D0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48175"/>
            <a:ext cx="157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Active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B6785-5D2B-4366-BE3A-CBFE590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3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Compulsory excess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245A9-2A95-407A-9CC3-E8B3569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00600"/>
            <a:ext cx="157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From policy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52CDC-C98A-4728-82CF-0A25454B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CURRENT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E50DE-706C-4802-9B04-AB8682CF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AS-7F2A91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076C0-2DB8-488C-BBDC-726475B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2D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EEAE4-A404-43C3-BC8E-75A8BBC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1C36B"/>
                </a:solidFill>
                <a:latin typeface="Bahnschrift"/>
                <a:ea typeface="Bahnschrift"/>
                <a:cs typeface="Bahnschrift"/>
              </a:rPr>
              <a:t>UNDER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E1B46-7912-49C5-9C42-FEEE060F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57575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Front bumper damage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E3715A-1323-41FA-B13D-3FF9FD0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95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Photo assessed  ·  3 findings priced  ·  1 item needs a specialist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A80BC-AD01-4765-B1C3-709C7BC2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7700" y="4229100"/>
            <a:ext cx="67913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59B00-A1B2-4037-85F1-55874D6C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00550"/>
            <a:ext cx="2190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ESTIMATE SUMMARY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2EBBF0-45F3-498C-A4D9-ECD49AD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Line items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F7BC0-7B6C-4D23-AF69-7E1DC701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8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Repair method · part · labour · paint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CEE997-8567-4F29-8BC6-6EFD6A0A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57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AE4859-5C53-408D-8B1A-BC23689D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577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1C36B"/>
                </a:solidFill>
                <a:latin typeface="Bahnschrift"/>
                <a:ea typeface="Bahnschrift"/>
                <a:cs typeface="Bahnschrift"/>
              </a:rPr>
              <a:t>Provisional estimate — no offer while review is open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EC1C27-21F4-4E76-B712-653F94D4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16573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F4EB48-B09E-4FE3-9A0C-F138239E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6260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071421"/>
                </a:solidFill>
                <a:latin typeface="Bahnschrift"/>
                <a:ea typeface="Bahnschrift"/>
                <a:cs typeface="Bahnschrift"/>
              </a:rPr>
              <a:t>ADD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01DC1-D316-4B2F-A18E-3EC3E834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rPr>
              <a:t>Based on Dashboard, PolicySummary, ClaimView and Assessment components. Illustrative screen composition.</a:t>
            </a:r>
          </a:p>
        </p:txBody>
      </p:sp>
    </p:spTree>
    <p:extLst>
      <p:ext uri="{BB962C8B-B14F-4D97-AF65-F5344CB8AC3E}">
        <p14:creationId xmlns:p14="http://schemas.microsoft.com/office/powerpoint/2010/main" val="890852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366C96-A0EA-4BD7-9834-C2DCB35B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06  /  ADMIN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8C5BB-62F4-4574-9C24-BB5B990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Staff admin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6200A-0BA2-465B-A0CE-1CD70AE3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24418-35BE-4F70-B960-8F344D6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BC5C4-8A30-4881-82CD-D1ABF820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A separate staff sign-in opens the claim queue, operational view and audit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FA07D-E457-45B9-B3B4-0BC8F68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1D2A"/>
          </a:solidFill>
          <a:ln xmlns:a="http://schemas.openxmlformats.org/drawingml/2006/main" w="9525">
            <a:solidFill>
              <a:srgbClr val="2941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D2695-B509-40B4-A67E-FC6419D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9812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1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0EE23-7011-4A22-9283-8DF327F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AUTO-SETTLE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AA381-E283-472A-9397-7CAFB49C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STAFF CONSOLE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D06C5-FFA8-4624-8A03-F0E9CE6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7049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2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EC7F3-BD01-4D81-B81A-05CE2441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4325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C6DE3-5CEA-4DCA-AE80-0CFE2736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52775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55186-EB56-4D28-AE66-025FB88C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23CB6-3C4F-4760-8934-3CE9459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Claim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3C6AD-FFE2-4440-B3D7-81E8CEA3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050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ECD14-DC92-48E7-B186-1FA619BD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Audit 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7B398-87FA-4CC5-92D4-7F77C31E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E9EA0-4101-457B-AE6A-41A7585D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7172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Overview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706DB-F191-461B-BE8E-5B734F93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Operational summary from claims stored on this server.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E05B8-AF9C-4538-B637-CE7F717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05150"/>
            <a:ext cx="18764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635"/>
          </a:solidFill>
          <a:ln xmlns:a="http://schemas.openxmlformats.org/drawingml/2006/main" w="9525">
            <a:solidFill>
              <a:srgbClr val="26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83043-96BD-4A39-9609-79EFB407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38500"/>
            <a:ext cx="1600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Claims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00A5F-0637-413C-9217-D613DA5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33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stored locally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3487E-44D5-49CE-80AD-6C5BD94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05150"/>
            <a:ext cx="18764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635"/>
          </a:solidFill>
          <a:ln xmlns:a="http://schemas.openxmlformats.org/drawingml/2006/main" w="9525">
            <a:solidFill>
              <a:srgbClr val="263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E307D-F17B-4173-AC59-3C3921BD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600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Needs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DBC19-D99D-48C8-AA6E-C42593A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33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5"/>
          </a:bodyPr>
          <a:lstStyle xmlns:a="http://schemas.openxmlformats.org/drawingml/2006/main">
            <a:defPPr algn="l"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automatic settlement paused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4DD7F-4C50-42D7-9FA0-0455B0C9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8764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635"/>
          </a:solidFill>
          <a:ln xmlns:a="http://schemas.openxmlformats.org/drawingml/2006/main" w="9525">
            <a:solidFill>
              <a:srgbClr val="263B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2ED92-ADED-4957-AB8E-34E86306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38500"/>
            <a:ext cx="1600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With customer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C4663-35A6-4001-915F-4E4406C8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533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awaiting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94F08-3E40-4333-8CDA-CF2E6998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05150"/>
            <a:ext cx="18764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635"/>
          </a:solidFill>
          <a:ln xmlns:a="http://schemas.openxmlformats.org/drawingml/2006/main" w="9525">
            <a:solidFill>
              <a:srgbClr val="263B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3A715-C3F8-4E63-BFB8-F32995C0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1600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Settled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4A5FD-8584-40EC-8CEF-0AC1D26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33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demo 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94F49-7340-4123-A540-836F6AD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95750"/>
            <a:ext cx="41624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635"/>
          </a:solidFill>
          <a:ln xmlns:a="http://schemas.openxmlformats.org/drawingml/2006/main" w="9525">
            <a:solidFill>
              <a:srgbClr val="263B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8444DF-1FBE-42A3-8DF3-264DCEDD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76725"/>
            <a:ext cx="3571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43D7C1"/>
                </a:solidFill>
                <a:latin typeface="Bahnschrift"/>
                <a:ea typeface="Bahnschrift"/>
                <a:cs typeface="Bahnschrift"/>
              </a:rPr>
              <a:t>NEEDS ATTENTION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19D66A-1CFD-4549-8074-DC2F2F7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72000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Queue of uncertain / escalated claims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09211-5D91-4EF1-8FCD-4D28E04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914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Open a claim to inspect evidence, pricing provenance and negotiation history.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57605D-89AF-4C9B-B436-726BE692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4171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635"/>
          </a:solidFill>
          <a:ln xmlns:a="http://schemas.openxmlformats.org/drawingml/2006/main" w="9525">
            <a:solidFill>
              <a:srgbClr val="263B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D3C71F-311F-40D0-B8C7-D46C2B0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76725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TRUST TOOLS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870740-6C30-4625-ADC8-70F674CF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720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Audit chain  ·  red-team suite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946F9D-1081-4E65-8700-AF3F95C9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149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AAB8C2"/>
                </a:solidFill>
                <a:latin typeface="Bahnschrift"/>
                <a:ea typeface="Bahnschrift"/>
                <a:cs typeface="Bahnschrift"/>
              </a:rPr>
              <a:t>Verify logged actions; run hostile-input tests from the console.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61A2F-EC34-421F-B910-24B94A20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81939E"/>
                </a:solidFill>
                <a:latin typeface="Bahnschrift"/>
                <a:ea typeface="Bahnschrift"/>
                <a:cs typeface="Bahnschrift"/>
              </a:rPr>
              <a:t>Source layout: AdminApp, OverviewPage, ClaimWorkspace and AuditPage. Live counts are intentionally omitted.</a:t>
            </a:r>
          </a:p>
        </p:txBody>
      </p:sp>
    </p:spTree>
    <p:extLst>
      <p:ext uri="{BB962C8B-B14F-4D97-AF65-F5344CB8AC3E}">
        <p14:creationId xmlns:p14="http://schemas.microsoft.com/office/powerpoint/2010/main" val="607287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5294F1-8CF5-410F-B45B-0FBC4761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07  /  RULEBOOK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32258-114C-4404-93B3-A9C37E90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Decision rules,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CFE3-01A5-491E-AD04-2D070789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820A7-14B4-4AD2-B0B3-0E1A5BE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02C90-A467-4CD8-B115-0A76C32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The same policy math and evidence gates apply across the claim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FBC7E-7BF0-493B-8526-F6175D4B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48050" cy="3562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C5EA4-ADB0-46EF-92FF-E2C1B82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480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CB3B0-DD5E-47F5-8874-C156446C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105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ESTIMATE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7ED34-D6DA-43E8-8B19-68866B0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985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Repair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C9C37-FC74-49DC-8B14-AC350A73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0987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Severity selects: touch-up · repaint · dent repair · PDR · plastic weld · replace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D5790-F822-407A-B071-70FA30C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" y="3257550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8A170-D51D-4506-A3D9-29E83FD0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0517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Lesser-of + price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F9E37-7470-4637-B92C-6661BFFE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05200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Repair stays at / below replacement. Exact-model/part scrape median; official first, stale flagged; otherwise vehicle demo 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A8B40-1E23-4B09-BDD7-A4B81EE6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" y="4181475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C62A9-B6C1-41A7-B32E-1FFA8C4E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291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Depreciation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3606B-C033-49D3-9894-6FE2A5FD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291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61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New parts only: plastic 50% · glass 0% · metal by age. Zero-dep waives it; labour / paint are never depreciated.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3C9A4-DD49-446E-B2D6-5B4E2002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" y="4876800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4A5B2-4DD9-4991-BE62-C690DA7C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2442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Payable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5F637-A183-47E4-BCF1-7A08E14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24450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max(0, repair total − part depreciation − one deductible)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E8ADE-221D-4866-882D-6C0C4CE6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9775"/>
            <a:ext cx="3448050" cy="3562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2460E-F1F0-4F99-9D7A-00668F7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9775"/>
            <a:ext cx="34480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9100D-3152-46E5-A17D-11B9FED2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105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VEHICLE + REVIEW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EF1C2-C583-4473-B718-5F663FA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Deductible · 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5F5A8-7028-461D-9247-A8BCD148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987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₹1,000 up to 1,500 cc · ₹2,000 above 1,500 cc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1C9B4-170C-4D48-B0BA-446F78B8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33900" y="3257550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BBC53-31B1-41F2-9FAA-DDF875D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0517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Deductible · 2W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CC017-5E03-4B76-A49C-2959E955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05200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₹100 below 150 cc · ₹500 at / above 150 cc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8F9A45-F62C-489B-A49C-ED61A30A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33900" y="3952875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C2A25-2119-48DF-BDD1-8183F2F8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Confidence floor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690B0-6952-4050-B48E-D0BB7B4C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00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VLM 0.60 · detector 0.50 · lamp / glass 0.40; loaded VLM must confirm before pricing.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1A3809-BCCD-4BC6-81C1-636F70C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33900" y="4648200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6ABB5-10A5-440E-9134-E088F65C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9582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Review route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A3D317-2BAB-428B-B852-EF8BBD43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17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Above ₹20,000 garage estimate, uncertainty, overlap or unsupported finding. Physical inspection for glass / ADAS, structure, wheel / tyre, window, trunk, handlebar / fork or exhaust.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BF854-3734-4D9E-BC43-CA2402C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9775"/>
            <a:ext cx="3448050" cy="3562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A147F9-5C45-4789-9545-A7073A8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9775"/>
            <a:ext cx="34480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B68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ECF4B-45B2-4539-B357-67243EF6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105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OFFERS + CONVERSATION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80698C-D6AD-465A-BE60-ACC14B5A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0985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rPr>
              <a:t>Cash offer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096EAA-7568-428D-ADAE-3EE80FA7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809875"/>
            <a:ext cx="3124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Fixed 80% of approved payable. No ladder: valid evidence may change payable; the offer is recalculated at 80%.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65F524-0F8C-4C61-8AEB-13CD402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96275" y="3333750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816A77-001A-4B8A-AD9C-E8DAA44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8137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rPr>
              <a:t>Garage estimate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CC4368-E16C-4943-88B8-3B916DE6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81400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45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Match priced part + method; check line math; cap each component at 125% of our rate. Up to 40 lines; ignore grand total.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494489-9DDD-4F2C-9FCF-997BAB26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96275" y="4029075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D9EBCD-9D01-4AC6-B930-C5402F5A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0767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rPr>
              <a:t>Evidence + 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023DA3-EEB0-4E22-84A0-5D31AD4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276725"/>
            <a:ext cx="3124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Up to 3 proof uploads trigger re-assessment. ACCEPT then CONFIRM; chat cannot change the amount. 40-turn cap.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45E709-7418-4E14-9BB5-75B0BAD6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96275" y="4800600"/>
            <a:ext cx="312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0830C1-B1BF-4287-844A-C2608D21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84822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B6812F"/>
                </a:solidFill>
                <a:latin typeface="Bahnschrift"/>
                <a:ea typeface="Bahnschrift"/>
                <a:cs typeface="Bahnschrift"/>
              </a:rPr>
              <a:t>Reply guard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B52C3E-47B8-4B35-ACB2-FC1B757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048250"/>
            <a:ext cx="3124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04"/>
          </a:bodyPr>
          <a:lstStyle xmlns:a="http://schemas.openxmlformats.org/drawingml/2006/main">
            <a:defPPr algn="l"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263B49"/>
                </a:solidFill>
                <a:latin typeface="Bahnschrift"/>
                <a:ea typeface="Bahnschrift"/>
                <a:cs typeface="Bahnschrift"/>
              </a:rPr>
              <a:t>8 checks: preserve amounts; block added numbers, promises, internal limits, accusations, new parts and instruction echoes; max 600 chars. Failed check → fixed template.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E1EA46-AE3D-4364-AA78-CA9D5069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Statuses: APPROVED · NO_PAYOUT · REVIEW_REQUIRED · ESCALATED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64DAC6-FBB8-4B6C-A64D-39694ACD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578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37"/>
          </a:bodyPr>
          <a:lstStyle xmlns:a="http://schemas.openxmlformats.org/drawingml/2006/main">
            <a:defPPr algn="r"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Demo settings / synthetic records; confirmation records a decision only, no funds move.</a:t>
            </a:r>
          </a:p>
        </p:txBody>
      </p:sp>
    </p:spTree>
    <p:extLst>
      <p:ext uri="{BB962C8B-B14F-4D97-AF65-F5344CB8AC3E}">
        <p14:creationId xmlns:p14="http://schemas.microsoft.com/office/powerpoint/2010/main" val="833360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4DC99-53B4-4C17-83C5-28D23B4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08  / 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98505-3856-4B47-97F2-C9EEC1D1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Project validation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36C11-B41A-4E66-920E-C26E6237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9AE47-256D-48AE-8037-89CFE85F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EFE9F-2E12-45A3-9D01-CF5BA57C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Repeatable backend checks and detector benchmarks, clearly separated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57995-7A18-4A75-99A3-7BE793E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5052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41432-2CA5-4CFF-9915-F955133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76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39EAB-DBA3-4BED-BB0C-158F8CD0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214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CF596-333C-40FC-8A64-E13CA0AC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automated 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52D0F-3219-4434-ACD4-3DEDD955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Pricing, state, API and safety checks run; vision / language model calls are stubbed.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82451-3895-4BDD-9179-18CC59E2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35052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CEFCE-C32E-4FD7-95BF-78683B22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476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097EF-6E24-4E50-8823-6FC9F77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70 / 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D301D-7694-42A8-A6BA-DD007E0B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955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red-team cases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5735A-858F-46BA-BEC0-F49D586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Project regression suite for hostile prompts, offer manipulation and state handling.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FA5A0-C88D-4446-AE64-DE6CDCB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19300"/>
            <a:ext cx="35052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012BA-2BAE-41FC-BC4A-C96C8620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476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8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E9FCC-CF67-48F4-BD86-A002F9F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5,000  / 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B85CA-9648-4782-9544-893223DA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6812F"/>
                </a:solidFill>
                <a:latin typeface="Bahnschrift"/>
                <a:ea typeface="Bahnschrift"/>
                <a:cs typeface="Bahnschrift"/>
              </a:rPr>
              <a:t>seeded claims / invariant breaks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2BEBF-738B-43D7-88FB-991CAC41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Pricing fuzz run kept payable and offer constraints intact.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D6840-817F-496B-AC0F-98D13A8D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47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CARDD CHECKPOINT  /  DETECTOR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11478-320B-4988-943C-90085E5B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F6B91-DCA5-43EB-882F-762920C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75.84%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1F5AD-E8BF-432B-B1A4-979E582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Box mAP@0.5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14AFD-6FC0-4878-A55B-2598FEA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4429125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02314-BD21-42D7-B225-4D35E13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207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26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75.90%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461BC-B5D1-46C0-8E47-E1A640D1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434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Mask mAP@0.5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82F85-BB7D-4451-BB16-43B74C7F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19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Published CarDD checkpoint figures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00005-B05F-4728-AA06-5C7E84D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53721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E2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1387C-21D0-42B8-BB31-6F1E13A0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81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WHAT THE TESTS COVER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80DAC2-CEAE-4AF8-BE6F-B7D526E0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1485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65"/>
          </a:bodyPr>
          <a:lstStyle xmlns:a="http://schemas.openxmlformats.org/drawingml/2006/main">
            <a:defPPr algn="l"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Pricing formula · approval states · API checks · hostile-input handling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1E6010-D963-4C44-BA63-0F347C1D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95875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The vision scores belong to the referenced checkpoint; project tests focus on system rules and flows.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BD66F-72C5-4D4B-A957-EF7B821C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2F11E-4C36-4C74-A312-84A8CBF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10620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Figures are attributed to their source and test scope.</a:t>
            </a:r>
          </a:p>
        </p:txBody>
      </p:sp>
    </p:spTree>
    <p:extLst>
      <p:ext uri="{BB962C8B-B14F-4D97-AF65-F5344CB8AC3E}">
        <p14:creationId xmlns:p14="http://schemas.microsoft.com/office/powerpoint/2010/main" val="20902460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EFD039-D8B7-4C91-8382-FFC4879A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09  /  NEXT HORIZONS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97DAC-C8CE-413B-BDD9-CFD6343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Scale and validation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DA2BD-9222-421D-B49D-EFE27C94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3620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A0F8E-D377-4985-B447-45B70DC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defPPr>
            <a:lvl1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1pPr>
            <a:lvl2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2pPr>
            <a:lvl3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3pPr>
            <a:lvl4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4pPr>
            <a:lvl5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5pPr>
            <a:lvl6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6pPr>
            <a:lvl7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7pPr>
            <a:lvl8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8pPr>
            <a:lvl9pPr algn="r"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47482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1F09B-9D2F-4651-8216-2A4114D4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A strong feature base, with a clear path to broader evaluation and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06736-368C-4C05-9A5F-FF327B6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076450"/>
            <a:ext cx="9525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C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BF990-89A5-4CC7-89BE-C13FC5D4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F927F"/>
                </a:solidFill>
                <a:latin typeface="Bahnschrift"/>
                <a:ea typeface="Bahnschrift"/>
                <a:cs typeface="Bahnschrift"/>
              </a:rPr>
              <a:t>KNOWN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54D19-9CFE-43B1-84CA-B63328AE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CA0C8-8D02-4460-9DFC-509E2ABE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DE2BE-C595-46DE-9378-706ED109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920E-88EA-4250-AF4B-4C6B4CCC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765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15 AI-reviewed dev photos; no held-out human or two-wheeler benchmark.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84A81-5A5F-4CC7-900F-D587048B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019AC-5B63-4915-8485-AF69F006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B421F-85AE-4D4F-9974-10D44CC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Evaluation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217E8-9369-4F65-A174-1E55570A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099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Severity rules, plate OCR and estimate checks are implemented; benchmark breadth is next.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268B6-182C-40C4-A5B3-A13F02AE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AFC8E-94C6-43F9-8535-D12B309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DDFB9-D06C-4FED-990E-95D8A6A6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Price 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3C234-3EB8-463A-9C3A-8E2E2842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43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Five model entries; labour and paint rates are demo assumptions.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45DFF-2994-4AAC-A587-9BA1E4D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787CD-1191-4847-B109-7C04E5EC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3010B-B3DB-4B5B-8BB0-B53C6FB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767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Prototype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77644-AC85-4EB1-A159-024E1737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6767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>
                <a:solidFill>
                  <a:srgbClr val="465965"/>
                </a:solidFill>
                <a:latin typeface="Bahnschrift"/>
                <a:ea typeface="Bahnschrift"/>
                <a:cs typeface="Bahnschrift"/>
              </a:rPr>
              <a:t>Synthetic policies; no insurer, identity or payment integration.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52531-9054-428A-9609-D5F2DDAC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76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EF8B67"/>
                </a:solidFill>
                <a:latin typeface="Bahnschrift"/>
                <a:ea typeface="Bahnschrift"/>
                <a:cs typeface="Bahnschrift"/>
              </a:rPr>
              <a:t>NEXT HORIZONS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977D2-5897-4206-AE06-35BCFB7C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3307C-02BA-4F84-9426-A1F81417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622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4D30E-692F-4C64-A837-0C36462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76500"/>
            <a:ext cx="4257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Human-reviewed vehicle-photo benchmark across cars and two-wheelers.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A25AC-0EB8-49FE-BC69-C141CD9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19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5642B-21DA-4E2E-8AC5-8D525136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95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32052-E4BF-42B4-82E9-E0470F19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09925"/>
            <a:ext cx="4257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Dedicated two-wheeler model training and class-wise evaluation.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89EBE-80B3-4A33-A1F3-A6D434E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528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5312D4-D3D9-419E-9948-6098223E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290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C7AE9-5C33-44B3-A28C-0E2002F8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943350"/>
            <a:ext cx="4257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Expand held-out evaluation for the existing severity, OCR and estimate-reading flows.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4C82FF-6980-46FB-8E7F-9D88A46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86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11FE5D-5283-4221-A0FC-3B524F7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62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defPPr>
            <a:lvl1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1pPr>
            <a:lvl2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2pPr>
            <a:lvl3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3pPr>
            <a:lvl4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4pPr>
            <a:lvl5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5pPr>
            <a:lvl6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6pPr>
            <a:lvl7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7pPr>
            <a:lvl8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8pPr>
            <a:lvl9pPr algn="ctr"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F8F7F2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5A7059-8CB8-48C9-86D8-AA3B7FB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76775"/>
            <a:ext cx="4257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Insurer-calibrated pricing, privacy controls and production integrations.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530666-EB21-4B87-964F-66E20A01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F6FE0-7D63-42A2-B858-24D07D2D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defPPr>
            <a:lvl1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1pPr>
            <a:lvl2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2pPr>
            <a:lvl3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3pPr>
            <a:lvl4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4pPr>
            <a:lvl5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5pPr>
            <a:lvl6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6pPr>
            <a:lvl7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7pPr>
            <a:lvl8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8pPr>
            <a:lvl9pPr algn="l"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102333"/>
                </a:solidFill>
                <a:latin typeface="Bahnschrift"/>
                <a:ea typeface="Bahnschrift"/>
                <a:cs typeface="Bahnschrift"/>
              </a:rPr>
              <a:t>Clear scope today; measurable milestones for the next stage.</a:t>
            </a:r>
          </a:p>
        </p:txBody>
      </p:sp>
    </p:spTree>
    <p:extLst>
      <p:ext uri="{BB962C8B-B14F-4D97-AF65-F5344CB8AC3E}">
        <p14:creationId xmlns:p14="http://schemas.microsoft.com/office/powerpoint/2010/main" val="1313781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2026-10-23T23:35:59.0370000Z</dcterms:created>
  <dcterms:modified xsi:type="dcterms:W3CDTF">2026-10-23T23:35:59.0370000Z</dcterms:modified>
</coreProperties>
</file>